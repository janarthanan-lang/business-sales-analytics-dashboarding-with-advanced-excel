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10" r:id="rId5"/>
    <p:sldId id="305" r:id="rId6"/>
    <p:sldId id="276" r:id="rId7"/>
    <p:sldId id="274" r:id="rId8"/>
    <p:sldId id="286" r:id="rId9"/>
    <p:sldId id="302" r:id="rId10"/>
    <p:sldId id="307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20" r:id="rId20"/>
    <p:sldId id="321" r:id="rId21"/>
    <p:sldId id="319" r:id="rId22"/>
    <p:sldId id="306" r:id="rId23"/>
    <p:sldId id="27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EE6"/>
    <a:srgbClr val="132BDC"/>
    <a:srgbClr val="DCE0FC"/>
    <a:srgbClr val="FDF200"/>
    <a:srgbClr val="80FBE5"/>
    <a:srgbClr val="3CF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626"/>
  </p:normalViewPr>
  <p:slideViewPr>
    <p:cSldViewPr snapToGrid="0">
      <p:cViewPr varScale="1">
        <p:scale>
          <a:sx n="84" d="100"/>
          <a:sy n="84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7" d="100"/>
          <a:sy n="137" d="100"/>
        </p:scale>
        <p:origin x="674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D3E5B-4BED-B24C-9674-6B6454D045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358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 userDrawn="1"/>
        </p:nvSpPr>
        <p:spPr>
          <a:xfrm>
            <a:off x="3127386" y="1976768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7" y="1399032"/>
            <a:ext cx="6757416" cy="3427502"/>
          </a:xfrm>
        </p:spPr>
        <p:txBody>
          <a:bodyPr lIns="0" tIns="0" rIns="0" bIns="0" anchor="t">
            <a:noAutofit/>
          </a:bodyPr>
          <a:lstStyle>
            <a:lvl1pPr algn="l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768" y="417444"/>
            <a:ext cx="7414940" cy="883258"/>
          </a:xfrm>
        </p:spPr>
        <p:txBody>
          <a:bodyPr lIns="0" tIns="0" rIns="0" bIns="18288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5029200" cy="2157984"/>
          </a:xfrm>
        </p:spPr>
        <p:txBody>
          <a:bodyPr lIns="0" tIns="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127248"/>
            <a:ext cx="4834517" cy="31089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21A89689-0612-8B49-DF4A-1864B8558C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8854442" y="2953511"/>
            <a:ext cx="6291068" cy="384048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FE54DA2-6D33-7833-E646-95347EF8B9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716512" y="6382510"/>
            <a:ext cx="566928" cy="384048"/>
          </a:xfrm>
        </p:spPr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7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 userDrawn="1"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0"/>
            <a:ext cx="5093208" cy="2189223"/>
          </a:xfrm>
        </p:spPr>
        <p:txBody>
          <a:bodyPr lIns="0" tIns="0" rIns="0" bIns="0" anchor="b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8" y="3145536"/>
            <a:ext cx="4306824" cy="23134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F214F5-1EBC-DA96-F275-05A0133562D0}"/>
              </a:ext>
            </a:extLst>
          </p:cNvPr>
          <p:cNvSpPr/>
          <p:nvPr userDrawn="1"/>
        </p:nvSpPr>
        <p:spPr>
          <a:xfrm>
            <a:off x="4903412" y="3140474"/>
            <a:ext cx="1314946" cy="13149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3" y="1106424"/>
            <a:ext cx="6839712" cy="1746504"/>
          </a:xfrm>
        </p:spPr>
        <p:txBody>
          <a:bodyPr lIns="0" tIns="0" rIns="0" bIns="0" anchor="b">
            <a:noAutofit/>
          </a:bodyPr>
          <a:lstStyle>
            <a:lvl1pPr>
              <a:defRPr sz="3200" baseline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92" y="3236976"/>
            <a:ext cx="5248656" cy="266090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80960" y="804672"/>
            <a:ext cx="3475649" cy="5248656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7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picture containing accessory&#10;&#10;Description automatically generated">
            <a:extLst>
              <a:ext uri="{FF2B5EF4-FFF2-40B4-BE49-F238E27FC236}">
                <a16:creationId xmlns:a16="http://schemas.microsoft.com/office/drawing/2014/main" id="{C36ADBF6-BB82-4096-70C0-7517A47A4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21975" b="1533"/>
          <a:stretch>
            <a:fillRect/>
          </a:stretch>
        </p:blipFill>
        <p:spPr>
          <a:xfrm rot="8325578">
            <a:off x="-1775001" y="-1607470"/>
            <a:ext cx="10567962" cy="8905077"/>
          </a:xfrm>
          <a:custGeom>
            <a:avLst/>
            <a:gdLst>
              <a:gd name="connsiteX0" fmla="*/ 6047036 w 10567962"/>
              <a:gd name="connsiteY0" fmla="*/ 8905077 h 8905077"/>
              <a:gd name="connsiteX1" fmla="*/ 0 w 10567962"/>
              <a:gd name="connsiteY1" fmla="*/ 3603767 h 8905077"/>
              <a:gd name="connsiteX2" fmla="*/ 0 w 10567962"/>
              <a:gd name="connsiteY2" fmla="*/ 0 h 8905077"/>
              <a:gd name="connsiteX3" fmla="*/ 6292508 w 10567962"/>
              <a:gd name="connsiteY3" fmla="*/ 0 h 8905077"/>
              <a:gd name="connsiteX4" fmla="*/ 10567962 w 10567962"/>
              <a:gd name="connsiteY4" fmla="*/ 3748201 h 890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962" h="8905077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FA127B08-9EC5-3FDF-B7CC-DF3587255E18}"/>
              </a:ext>
            </a:extLst>
          </p:cNvPr>
          <p:cNvSpPr/>
          <p:nvPr userDrawn="1"/>
        </p:nvSpPr>
        <p:spPr>
          <a:xfrm>
            <a:off x="925160" y="4144752"/>
            <a:ext cx="4788322" cy="2713249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51D38D-DD64-4914-C669-30AA47A5A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1325880"/>
            <a:ext cx="5093208" cy="2816352"/>
          </a:xfrm>
        </p:spPr>
        <p:txBody>
          <a:bodyPr lIns="0" tIns="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A8DA7F4-A65E-7F16-9966-719CC1CE2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3408" y="4462272"/>
            <a:ext cx="3995928" cy="1956816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D6A538-39F8-D45E-F4C1-38779C640BB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06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10512" y="4010866"/>
            <a:ext cx="5056094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5" name="Picture 14" descr="Modern house with cubic design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406" r="17667" b="23487"/>
          <a:stretch/>
        </p:blipFill>
        <p:spPr>
          <a:xfrm>
            <a:off x="4124294" y="2125402"/>
            <a:ext cx="7678065" cy="4732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420624"/>
            <a:ext cx="10954512" cy="1463040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100000"/>
              </a:lnSpc>
              <a:defRPr sz="3200" b="0" i="0" spc="600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D9CFE2-F1DE-34DA-A154-9AE903E5B7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899" y="2231136"/>
            <a:ext cx="4828032" cy="3566160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1D5B031-92C7-C093-2551-D07457044EAC}"/>
              </a:ext>
            </a:extLst>
          </p:cNvPr>
          <p:cNvGrpSpPr/>
          <p:nvPr userDrawn="1"/>
        </p:nvGrpSpPr>
        <p:grpSpPr>
          <a:xfrm>
            <a:off x="-1" y="-2"/>
            <a:ext cx="12191610" cy="6858001"/>
            <a:chOff x="-1" y="-2"/>
            <a:chExt cx="12191610" cy="6858001"/>
          </a:xfrm>
        </p:grpSpPr>
        <p:pic>
          <p:nvPicPr>
            <p:cNvPr id="4" name="Picture Placeholder 14" descr="White modern architecture">
              <a:extLst>
                <a:ext uri="{FF2B5EF4-FFF2-40B4-BE49-F238E27FC236}">
                  <a16:creationId xmlns:a16="http://schemas.microsoft.com/office/drawing/2014/main" id="{21A49D77-8AEF-828A-03A8-2845B710DE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155702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5" name="Picture Placeholder 14" descr="White modern architecture">
              <a:extLst>
                <a:ext uri="{FF2B5EF4-FFF2-40B4-BE49-F238E27FC236}">
                  <a16:creationId xmlns:a16="http://schemas.microsoft.com/office/drawing/2014/main" id="{206EA98F-16E6-C607-6268-D08FD83B70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-1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7E6947B8-AA10-E633-EF28-E1A80069E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932" y="0"/>
            <a:ext cx="6894136" cy="6894136"/>
          </a:xfrm>
          <a:custGeom>
            <a:avLst/>
            <a:gdLst>
              <a:gd name="connsiteX0" fmla="*/ 3447068 w 6894136"/>
              <a:gd name="connsiteY0" fmla="*/ 0 h 6894136"/>
              <a:gd name="connsiteX1" fmla="*/ 6894136 w 6894136"/>
              <a:gd name="connsiteY1" fmla="*/ 3447068 h 6894136"/>
              <a:gd name="connsiteX2" fmla="*/ 3447068 w 6894136"/>
              <a:gd name="connsiteY2" fmla="*/ 6894136 h 6894136"/>
              <a:gd name="connsiteX3" fmla="*/ 0 w 6894136"/>
              <a:gd name="connsiteY3" fmla="*/ 3447068 h 6894136"/>
              <a:gd name="connsiteX4" fmla="*/ 3447068 w 6894136"/>
              <a:gd name="connsiteY4" fmla="*/ 0 h 689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4136" h="6894136">
                <a:moveTo>
                  <a:pt x="3447068" y="0"/>
                </a:moveTo>
                <a:cubicBezTo>
                  <a:pt x="5350831" y="0"/>
                  <a:pt x="6894136" y="1543305"/>
                  <a:pt x="6894136" y="3447068"/>
                </a:cubicBezTo>
                <a:cubicBezTo>
                  <a:pt x="6894136" y="5350831"/>
                  <a:pt x="5350831" y="6894136"/>
                  <a:pt x="3447068" y="6894136"/>
                </a:cubicBezTo>
                <a:cubicBezTo>
                  <a:pt x="1543305" y="6894136"/>
                  <a:pt x="0" y="5350831"/>
                  <a:pt x="0" y="3447068"/>
                </a:cubicBezTo>
                <a:cubicBezTo>
                  <a:pt x="0" y="1543305"/>
                  <a:pt x="1543305" y="0"/>
                  <a:pt x="3447068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algn="ctr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773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68680"/>
            <a:ext cx="5248656" cy="2157984"/>
          </a:xfrm>
        </p:spPr>
        <p:txBody>
          <a:bodyPr lIns="0" tIns="0" rIns="0" bIns="0">
            <a:no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075B629-22B4-B399-5D07-4652BF6821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59126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1934275 w 4577463"/>
              <a:gd name="connsiteY7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564249" y="286676"/>
                  <a:pt x="1215784" y="0"/>
                  <a:pt x="19342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1B16EE8-89D3-7E4F-90BE-68EAAD85CBB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729984" y="786384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b="1" cap="all" baseline="0">
                <a:latin typeface="+mn-lt"/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>
                <a:latin typeface="+mn-lt"/>
              </a:defRPr>
            </a:lvl2pPr>
            <a:lvl3pPr marL="283464" indent="-34290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3pPr>
            <a:lvl4pPr marL="548640" indent="-28575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4pPr>
            <a:lvl5pPr marL="822960" indent="-28575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9984" y="3858768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b="1" cap="all" baseline="0">
                <a:latin typeface="+mn-lt"/>
              </a:defRPr>
            </a:lvl1pPr>
            <a:lvl2pPr marL="283464" indent="-283464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10085832" cy="1426464"/>
          </a:xfrm>
        </p:spPr>
        <p:txBody>
          <a:bodyPr lIns="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50392" y="3950208"/>
            <a:ext cx="10085832" cy="2331720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48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3941064" cy="4270248"/>
          </a:xfrm>
        </p:spPr>
        <p:txBody>
          <a:bodyPr lIns="9144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 cap="all" baseline="0"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54864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614416" y="1837944"/>
            <a:ext cx="5358384" cy="42702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3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5987AE2-5803-BA29-C76B-C9FA864D3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2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8540B3-3734-5A53-D7E0-D89871A37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0858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6B22B6-D5E7-7C52-B588-374568C8D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911096"/>
            <a:ext cx="4837176" cy="28986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cap="none" baseline="0"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54864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DBC7A5-FE31-E809-7729-4AFA9CFD0DEB}"/>
              </a:ext>
            </a:extLst>
          </p:cNvPr>
          <p:cNvSpPr>
            <a:spLocks noGrp="1"/>
          </p:cNvSpPr>
          <p:nvPr>
            <p:ph sz="half" idx="36"/>
          </p:nvPr>
        </p:nvSpPr>
        <p:spPr>
          <a:xfrm>
            <a:off x="6812280" y="1911096"/>
            <a:ext cx="4453128" cy="1911096"/>
          </a:xfrm>
        </p:spPr>
        <p:txBody>
          <a:bodyPr lIns="0" tIns="0" rIns="0" bIns="0">
            <a:noAutofit/>
          </a:bodyPr>
          <a:lstStyle>
            <a:lvl1pPr marL="285750" indent="-2857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cap="none" baseline="0">
                <a:latin typeface="+mn-lt"/>
              </a:defRPr>
            </a:lvl1pPr>
            <a:lvl2pPr marL="548640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82296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2280" y="4242816"/>
            <a:ext cx="4123944" cy="2615184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 walking intersection with one lone person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82C1C4E7-A67E-5E90-3669-D2982C30E4FC}"/>
              </a:ext>
            </a:extLst>
          </p:cNvPr>
          <p:cNvSpPr/>
          <p:nvPr userDrawn="1"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6" y="2188196"/>
            <a:ext cx="5985159" cy="1594507"/>
          </a:xfrm>
        </p:spPr>
        <p:txBody>
          <a:bodyPr lIns="0" tIns="0" rIns="0" bIns="0" anchor="b">
            <a:noAutofit/>
          </a:bodyPr>
          <a:lstStyle>
            <a:lvl1pPr>
              <a:defRPr sz="32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4078224"/>
            <a:ext cx="5444517" cy="173189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 userDrawn="1"/>
        </p:nvSpPr>
        <p:spPr>
          <a:xfrm>
            <a:off x="10408059" y="1151133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 userDrawn="1"/>
        </p:nvSpPr>
        <p:spPr>
          <a:xfrm>
            <a:off x="10987993" y="114070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2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 userDrawn="1"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38" y="409576"/>
            <a:ext cx="109728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644" y="1825625"/>
            <a:ext cx="1109830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716512" y="6382510"/>
            <a:ext cx="566928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4442" y="2953511"/>
            <a:ext cx="6291068" cy="384048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1" r:id="rId3"/>
    <p:sldLayoutId id="2147483664" r:id="rId4"/>
    <p:sldLayoutId id="2147483659" r:id="rId5"/>
    <p:sldLayoutId id="2147483654" r:id="rId6"/>
    <p:sldLayoutId id="2147483667" r:id="rId7"/>
    <p:sldLayoutId id="2147483665" r:id="rId8"/>
    <p:sldLayoutId id="2147483669" r:id="rId9"/>
    <p:sldLayoutId id="2147483670" r:id="rId10"/>
    <p:sldLayoutId id="2147483652" r:id="rId11"/>
    <p:sldLayoutId id="2147483656" r:id="rId12"/>
    <p:sldLayoutId id="2147483663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orient="horz" pos="1152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9" userDrawn="1">
          <p15:clr>
            <a:srgbClr val="547EBF"/>
          </p15:clr>
        </p15:guide>
        <p15:guide id="20" pos="7680" userDrawn="1">
          <p15:clr>
            <a:srgbClr val="547EBF"/>
          </p15:clr>
        </p15:guide>
        <p15:guide id="21" pos="528" userDrawn="1">
          <p15:clr>
            <a:srgbClr val="547EBF"/>
          </p15:clr>
        </p15:guide>
        <p15:guide id="22" pos="6912" userDrawn="1">
          <p15:clr>
            <a:srgbClr val="547EBF"/>
          </p15:clr>
        </p15:guide>
        <p15:guide id="23" orient="horz" pos="240" userDrawn="1">
          <p15:clr>
            <a:srgbClr val="547EBF"/>
          </p15:clr>
        </p15:guide>
        <p15:guide id="2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C5300-AC43-F396-6E83-73A31578C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67" y="1399032"/>
            <a:ext cx="6757416" cy="3427502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Advanced</a:t>
            </a:r>
            <a:br>
              <a:rPr lang="en-US" sz="36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excel</a:t>
            </a:r>
            <a:br>
              <a:rPr lang="en-US" sz="36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3600" dirty="0">
                <a:solidFill>
                  <a:schemeClr val="bg2">
                    <a:lumMod val="10000"/>
                  </a:schemeClr>
                </a:solidFill>
              </a:rPr>
              <a:t>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BE460-3185-CD59-0215-356A228DF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768" y="417444"/>
            <a:ext cx="7414940" cy="883258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Sales data analysis</a:t>
            </a:r>
          </a:p>
        </p:txBody>
      </p:sp>
    </p:spTree>
    <p:extLst>
      <p:ext uri="{BB962C8B-B14F-4D97-AF65-F5344CB8AC3E}">
        <p14:creationId xmlns:p14="http://schemas.microsoft.com/office/powerpoint/2010/main" val="386748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4F54-DA82-4616-5B86-91637316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221" y="1453896"/>
            <a:ext cx="5029200" cy="1344168"/>
          </a:xfrm>
        </p:spPr>
        <p:txBody>
          <a:bodyPr anchor="t"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Excel reinforcement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4FF4F-87AF-081C-2A21-97173EE4A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221" y="3886200"/>
            <a:ext cx="4597557" cy="1344168"/>
          </a:xfrm>
        </p:spPr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</a:rPr>
              <a:t>Name : Janarthanan M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</a:rPr>
              <a:t>Course &amp; Batch : DADS &amp; July(Offline)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</a:rPr>
              <a:t>Date : 09/09/2025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6B33E9-5728-FA5C-0AC2-27407C4E7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1720" y="638594"/>
            <a:ext cx="2743200" cy="1336433"/>
          </a:xfrm>
          <a:prstGeom prst="rect">
            <a:avLst/>
          </a:prstGeom>
          <a:solidFill>
            <a:schemeClr val="accent1">
              <a:alpha val="87843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FDBA0D-C717-B16D-F1F6-BA5D8E090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073" y="3130095"/>
            <a:ext cx="228928" cy="2252610"/>
          </a:xfrm>
          <a:prstGeom prst="rect">
            <a:avLst/>
          </a:prstGeom>
          <a:solidFill>
            <a:schemeClr val="accent1">
              <a:alpha val="76078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D090D43-FD3C-82CE-3706-B447C067FB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0519D2C-FD65-C19F-A005-E4FF8E1503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1103" r="2110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5181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8CA0173-29FD-AFA2-C4D4-F4CAD9BFA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592" y="484632"/>
            <a:ext cx="5961888" cy="56159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Project overview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FC01B0-7BC5-5869-A281-EF11B59BA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4456" y="1188720"/>
            <a:ext cx="5650992" cy="1078992"/>
          </a:xfrm>
        </p:spPr>
        <p:txBody>
          <a:bodyPr anchor="t"/>
          <a:lstStyle/>
          <a:p>
            <a:pPr algn="just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</a:rPr>
              <a:t>	Analyze sales data to identify trends, understand performance, and provide insights.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64E90E1F-B085-96CF-E2DF-114F889FDCEB}"/>
              </a:ext>
            </a:extLst>
          </p:cNvPr>
          <p:cNvSpPr txBox="1">
            <a:spLocks/>
          </p:cNvSpPr>
          <p:nvPr/>
        </p:nvSpPr>
        <p:spPr>
          <a:xfrm>
            <a:off x="5894832" y="2484120"/>
            <a:ext cx="5961888" cy="56159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cap="all" spc="6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goals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D3886-C55E-05F9-CFAB-2782F7A3655A}"/>
              </a:ext>
            </a:extLst>
          </p:cNvPr>
          <p:cNvSpPr txBox="1"/>
          <p:nvPr/>
        </p:nvSpPr>
        <p:spPr>
          <a:xfrm>
            <a:off x="6217920" y="3108960"/>
            <a:ext cx="55686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</a:rPr>
              <a:t>Analyze sales trends overall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</a:rPr>
              <a:t> Identify high-performing products and sales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</a:rPr>
              <a:t> Determine impact of discounts.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</a:rPr>
              <a:t>Create dynamic dashboard with KPIs.</a:t>
            </a:r>
          </a:p>
          <a:p>
            <a:endParaRPr lang="en-IN" sz="2000" dirty="0">
              <a:solidFill>
                <a:schemeClr val="bg2">
                  <a:lumMod val="10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0" name="Picture Placeholder 9" descr="A person touching a screen with icons&#10;&#10;AI-generated content may be incorrect.">
            <a:extLst>
              <a:ext uri="{FF2B5EF4-FFF2-40B4-BE49-F238E27FC236}">
                <a16:creationId xmlns:a16="http://schemas.microsoft.com/office/drawing/2014/main" id="{C7ABC165-D40D-8B5F-577B-6E9CDDE1F8A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6091" r="260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1250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B7B0AB-7E6D-621B-43E7-5825A6443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15" y="0"/>
            <a:ext cx="7077645" cy="1033272"/>
          </a:xfrm>
        </p:spPr>
        <p:txBody>
          <a:bodyPr anchor="b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Data Description and Preparation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7F915-9766-1FC8-98BD-D9AE3D5B2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91" y="1124712"/>
            <a:ext cx="6830569" cy="5248653"/>
          </a:xfrm>
        </p:spPr>
        <p:txBody>
          <a:bodyPr anchor="t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Dataset Overview:</a:t>
            </a:r>
          </a:p>
          <a:p>
            <a:pPr marL="569836" lvl="1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Superstore Sales dataset with </a:t>
            </a: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 Bold"/>
                <a:cs typeface="Poppins Bold"/>
                <a:sym typeface="Poppins Bold"/>
              </a:rPr>
              <a:t>9,995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 Bold"/>
                <a:cs typeface="Poppins Bold"/>
                <a:sym typeface="Poppins Bold"/>
              </a:rPr>
              <a:t>rows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 and </a:t>
            </a: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 Bold"/>
              </a:rPr>
              <a:t>21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 Bold"/>
                <a:cs typeface="Poppins Bold"/>
                <a:sym typeface="Poppins Bold"/>
              </a:rPr>
              <a:t>columns.</a:t>
            </a:r>
          </a:p>
          <a:p>
            <a:pPr marL="589762" lvl="1" indent="-29488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Includes fields such as: </a:t>
            </a: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 Bold"/>
                <a:cs typeface="Poppins Bold"/>
                <a:sym typeface="Poppins Bold"/>
              </a:rPr>
              <a:t>Order ID, Customer ID, Product ID, Category, Sub-Category, Sales, Quantity, Discount, Profit, etc.</a:t>
            </a:r>
          </a:p>
          <a:p>
            <a:pPr marL="589762" lvl="1" indent="-294881">
              <a:lnSpc>
                <a:spcPct val="100000"/>
              </a:lnSpc>
              <a:buFont typeface="Arial"/>
              <a:buChar char="•"/>
            </a:pPr>
            <a:endParaRPr lang="en-US" b="1" dirty="0">
              <a:solidFill>
                <a:schemeClr val="bg2">
                  <a:lumMod val="10000"/>
                </a:schemeClr>
              </a:solidFill>
              <a:latin typeface="Arial Rounded MT Bold" panose="020F0704030504030204" pitchFamily="34" charset="0"/>
              <a:ea typeface="Poppins Bold"/>
              <a:cs typeface="Poppins Bold"/>
              <a:sym typeface="Poppins Bold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Data Cleaning &amp; Preparation Steps:</a:t>
            </a:r>
          </a:p>
          <a:p>
            <a:pPr marL="569836" lvl="1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Removed duplicates.</a:t>
            </a:r>
          </a:p>
          <a:p>
            <a:pPr marL="569836" lvl="1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Converted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OrderDate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  &amp; ShipDate from text to proper Date format (used Text-to-Columns for DMY conversion).</a:t>
            </a:r>
          </a:p>
          <a:p>
            <a:pPr marL="569836" lvl="1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Created helper columns for time-based analysis  (Weekday,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End_of_Month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).</a:t>
            </a:r>
          </a:p>
          <a:p>
            <a:pPr marL="284086" lvl="1">
              <a:lnSpc>
                <a:spcPct val="100000"/>
              </a:lnSpc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Built calculated fields:</a:t>
            </a:r>
          </a:p>
          <a:p>
            <a:pPr marL="1136344" lvl="2" indent="-37878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Adjusted_Sales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Poppins"/>
                <a:cs typeface="Poppins"/>
                <a:sym typeface="Poppins"/>
              </a:rPr>
              <a:t> = Sales - (Sales * Discount).</a:t>
            </a:r>
          </a:p>
          <a:p>
            <a:pPr>
              <a:lnSpc>
                <a:spcPct val="100000"/>
              </a:lnSpc>
            </a:pPr>
            <a:endParaRPr lang="en-US" b="1" dirty="0">
              <a:solidFill>
                <a:schemeClr val="bg2">
                  <a:lumMod val="10000"/>
                </a:schemeClr>
              </a:solidFill>
              <a:latin typeface="Arial Rounded MT Bold" panose="020F0704030504030204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04F5115-4987-5C8E-E191-E06A29A553D3}"/>
              </a:ext>
            </a:extLst>
          </p:cNvPr>
          <p:cNvSpPr txBox="1">
            <a:spLocks/>
          </p:cNvSpPr>
          <p:nvPr/>
        </p:nvSpPr>
        <p:spPr>
          <a:xfrm>
            <a:off x="9912096" y="4736592"/>
            <a:ext cx="2121408" cy="2121408"/>
          </a:xfrm>
          <a:prstGeom prst="ellipse">
            <a:avLst/>
          </a:prstGeom>
          <a:solidFill>
            <a:schemeClr val="accent1">
              <a:alpha val="72000"/>
            </a:schemeClr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300" b="0" i="0" kern="1200">
                <a:solidFill>
                  <a:schemeClr val="accent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2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EA969D2-43E7-374C-2BD3-3ED94ADEAE97}"/>
              </a:ext>
            </a:extLst>
          </p:cNvPr>
          <p:cNvSpPr txBox="1">
            <a:spLocks/>
          </p:cNvSpPr>
          <p:nvPr/>
        </p:nvSpPr>
        <p:spPr>
          <a:xfrm>
            <a:off x="10972800" y="1515070"/>
            <a:ext cx="371815" cy="1033272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300" b="0" i="0" kern="1200">
                <a:solidFill>
                  <a:schemeClr val="accent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2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CB2D080-C33E-7ABA-4BFC-D6F8F922FF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Placeholder 8" descr="A hand holding a circular object with text&#10;&#10;AI-generated content may be incorrect.">
            <a:extLst>
              <a:ext uri="{FF2B5EF4-FFF2-40B4-BE49-F238E27FC236}">
                <a16:creationId xmlns:a16="http://schemas.microsoft.com/office/drawing/2014/main" id="{01145582-F1D6-A097-FC45-FD568F3037E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31383" r="3138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78401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D17CB91-C6DC-343A-3D22-DC16E49907A6}"/>
              </a:ext>
            </a:extLst>
          </p:cNvPr>
          <p:cNvSpPr txBox="1">
            <a:spLocks/>
          </p:cNvSpPr>
          <p:nvPr/>
        </p:nvSpPr>
        <p:spPr>
          <a:xfrm>
            <a:off x="6016752" y="0"/>
            <a:ext cx="5742432" cy="1033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cap="all" spc="6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Data Description 	Preparation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6DE345AE-7F71-573C-5A1F-BF0F4EBA842F}"/>
              </a:ext>
            </a:extLst>
          </p:cNvPr>
          <p:cNvSpPr txBox="1"/>
          <p:nvPr/>
        </p:nvSpPr>
        <p:spPr>
          <a:xfrm>
            <a:off x="5019872" y="1396119"/>
            <a:ext cx="5337107" cy="575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Before cleaning  and  After cleaning 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CECBE79-EA47-E843-354E-6CD11F5B8E59}"/>
              </a:ext>
            </a:extLst>
          </p:cNvPr>
          <p:cNvSpPr/>
          <p:nvPr/>
        </p:nvSpPr>
        <p:spPr>
          <a:xfrm>
            <a:off x="4246020" y="3249743"/>
            <a:ext cx="3218470" cy="2880000"/>
          </a:xfrm>
          <a:custGeom>
            <a:avLst/>
            <a:gdLst/>
            <a:ahLst/>
            <a:cxnLst/>
            <a:rect l="l" t="t" r="r" b="b"/>
            <a:pathLst>
              <a:path w="5808313" h="4986681">
                <a:moveTo>
                  <a:pt x="0" y="0"/>
                </a:moveTo>
                <a:lnTo>
                  <a:pt x="5808313" y="0"/>
                </a:lnTo>
                <a:lnTo>
                  <a:pt x="5808313" y="4986681"/>
                </a:lnTo>
                <a:lnTo>
                  <a:pt x="0" y="4986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4570"/>
            </a:stretch>
          </a:blipFill>
        </p:spPr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9F51F394-FE0B-837B-9C3F-357EF7115F89}"/>
              </a:ext>
            </a:extLst>
          </p:cNvPr>
          <p:cNvSpPr/>
          <p:nvPr/>
        </p:nvSpPr>
        <p:spPr>
          <a:xfrm>
            <a:off x="8101825" y="3249919"/>
            <a:ext cx="3218400" cy="2880000"/>
          </a:xfrm>
          <a:custGeom>
            <a:avLst/>
            <a:gdLst/>
            <a:ahLst/>
            <a:cxnLst/>
            <a:rect l="l" t="t" r="r" b="b"/>
            <a:pathLst>
              <a:path w="5686749" h="4986681">
                <a:moveTo>
                  <a:pt x="0" y="0"/>
                </a:moveTo>
                <a:lnTo>
                  <a:pt x="5686749" y="0"/>
                </a:lnTo>
                <a:lnTo>
                  <a:pt x="5686749" y="4986681"/>
                </a:lnTo>
                <a:lnTo>
                  <a:pt x="0" y="4986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7254B4-CFB0-D949-D64E-D0FD29D4937A}"/>
              </a:ext>
            </a:extLst>
          </p:cNvPr>
          <p:cNvCxnSpPr/>
          <p:nvPr/>
        </p:nvCxnSpPr>
        <p:spPr>
          <a:xfrm flipH="1">
            <a:off x="5855255" y="1971469"/>
            <a:ext cx="563833" cy="1174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3F9DDE-7BA4-DCA8-5F2E-3D6FDEB4DB71}"/>
              </a:ext>
            </a:extLst>
          </p:cNvPr>
          <p:cNvCxnSpPr>
            <a:cxnSpLocks/>
          </p:cNvCxnSpPr>
          <p:nvPr/>
        </p:nvCxnSpPr>
        <p:spPr>
          <a:xfrm>
            <a:off x="8887968" y="1971468"/>
            <a:ext cx="649224" cy="1174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615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A49A-DC7C-9C4F-2F9A-564E195C5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73152"/>
            <a:ext cx="9848088" cy="877824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grandir"/>
                <a:ea typeface="Agrandir"/>
                <a:cs typeface="Agrandir"/>
                <a:sym typeface="Agrandir"/>
              </a:rPr>
              <a:t>Key Metrics Calculation and Data Analysis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Agrandir"/>
                <a:ea typeface="Agrandir"/>
                <a:cs typeface="Agrandir"/>
                <a:sym typeface="Agrandir"/>
              </a:rPr>
            </a:b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A4B6E0DA-DEBF-CAD7-638D-5FAC6A83C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382510"/>
            <a:ext cx="566928" cy="384048"/>
          </a:xfrm>
        </p:spPr>
        <p:txBody>
          <a:bodyPr/>
          <a:lstStyle/>
          <a:p>
            <a:fld id="{09A01C0A-2BB6-49E7-91A3-DCB9F9F5958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5704EA-7A65-5CC2-D428-F28396B0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346" y="2724345"/>
            <a:ext cx="1292298" cy="1292298"/>
          </a:xfrm>
          <a:prstGeom prst="ellipse">
            <a:avLst/>
          </a:prstGeom>
          <a:solidFill>
            <a:schemeClr val="accent1">
              <a:alpha val="760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AAEB28-E967-25DD-EC98-024539D97E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85" b="1"/>
          <a:stretch>
            <a:fillRect/>
          </a:stretch>
        </p:blipFill>
        <p:spPr>
          <a:xfrm>
            <a:off x="927495" y="1794297"/>
            <a:ext cx="3553321" cy="9300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365478-0E93-29DE-7950-B54290F840DA}"/>
              </a:ext>
            </a:extLst>
          </p:cNvPr>
          <p:cNvSpPr txBox="1"/>
          <p:nvPr/>
        </p:nvSpPr>
        <p:spPr>
          <a:xfrm>
            <a:off x="1234440" y="1362456"/>
            <a:ext cx="291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 Rounded MT Bold" panose="020F0704030504030204" pitchFamily="34" charset="0"/>
              </a:rPr>
              <a:t>KEY METRICS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0BFDF6-6638-4040-7CB9-71CC66D0A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538" y="3154428"/>
            <a:ext cx="5077534" cy="28007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2C2525-D82E-5085-E019-61A038D48379}"/>
              </a:ext>
            </a:extLst>
          </p:cNvPr>
          <p:cNvSpPr txBox="1"/>
          <p:nvPr/>
        </p:nvSpPr>
        <p:spPr>
          <a:xfrm>
            <a:off x="6621997" y="2539679"/>
            <a:ext cx="340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 Rounded MT Bold" panose="020F0704030504030204" pitchFamily="34" charset="0"/>
              </a:rPr>
              <a:t>KEY METRICS INSIGHTS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  <p:pic>
        <p:nvPicPr>
          <p:cNvPr id="8" name="Picture Placeholder 7" descr="A globe with a digital screen&#10;&#10;AI-generated content may be incorrect.">
            <a:extLst>
              <a:ext uri="{FF2B5EF4-FFF2-40B4-BE49-F238E27FC236}">
                <a16:creationId xmlns:a16="http://schemas.microsoft.com/office/drawing/2014/main" id="{A8CB8A30-9A4C-8B1E-6241-CF9F7E8AA8D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l="18342" r="1834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23760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097A-775B-08E5-6C81-5BA1BCE9A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37160"/>
            <a:ext cx="10122632" cy="429768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PIVOT TABLE &amp; CHARTS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23B6C-8A52-6407-0C43-F01FB97CF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382510"/>
            <a:ext cx="566928" cy="384048"/>
          </a:xfrm>
        </p:spPr>
        <p:txBody>
          <a:bodyPr/>
          <a:lstStyle/>
          <a:p>
            <a:fld id="{09A01C0A-2BB6-49E7-91A3-DCB9F9F5958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471AF9C2-621E-B862-1168-0097DBF083DD}"/>
              </a:ext>
            </a:extLst>
          </p:cNvPr>
          <p:cNvSpPr txBox="1"/>
          <p:nvPr/>
        </p:nvSpPr>
        <p:spPr>
          <a:xfrm>
            <a:off x="155448" y="822053"/>
            <a:ext cx="6995160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Pivot Table 1 – Adjusted Sales </a:t>
            </a:r>
            <a:r>
              <a:rPr lang="en-US" sz="2400" b="1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&amp; Average Sales</a:t>
            </a:r>
            <a:endParaRPr lang="en-US" sz="2400" b="1" u="none" strike="noStrike" dirty="0">
              <a:solidFill>
                <a:srgbClr val="000000"/>
              </a:solidFill>
              <a:latin typeface="Arial Rounded MT Bold" panose="020F0704030504030204" pitchFamily="34" charset="0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D9636C-671E-EC3D-0067-4D7416E8A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22" y="1728327"/>
            <a:ext cx="4772691" cy="1133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F90BC3-E6A9-658C-968B-C727C903D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731" y="3471275"/>
            <a:ext cx="7316221" cy="2819794"/>
          </a:xfrm>
          <a:prstGeom prst="rect">
            <a:avLst/>
          </a:prstGeom>
        </p:spPr>
      </p:pic>
      <p:sp>
        <p:nvSpPr>
          <p:cNvPr id="15" name="TextBox 6">
            <a:extLst>
              <a:ext uri="{FF2B5EF4-FFF2-40B4-BE49-F238E27FC236}">
                <a16:creationId xmlns:a16="http://schemas.microsoft.com/office/drawing/2014/main" id="{4A21D63A-8E24-DDEA-A4FB-806C7D80E7C5}"/>
              </a:ext>
            </a:extLst>
          </p:cNvPr>
          <p:cNvSpPr txBox="1"/>
          <p:nvPr/>
        </p:nvSpPr>
        <p:spPr>
          <a:xfrm>
            <a:off x="7643873" y="2720080"/>
            <a:ext cx="1011936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64299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D761A-B954-A9B8-F852-32F255390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82880"/>
            <a:ext cx="10122632" cy="585216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Pivot table &amp; charts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2DE94-195B-CD47-C23B-6E6FA0C87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42FD024-B9BA-F2D0-E4F1-F07FA7FFB8C8}"/>
              </a:ext>
            </a:extLst>
          </p:cNvPr>
          <p:cNvSpPr txBox="1"/>
          <p:nvPr/>
        </p:nvSpPr>
        <p:spPr>
          <a:xfrm>
            <a:off x="155448" y="767189"/>
            <a:ext cx="6858000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Pivot Table 2 – </a:t>
            </a:r>
            <a:r>
              <a:rPr lang="en-US" sz="2400" b="1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Category</a:t>
            </a: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&amp; Average Discount</a:t>
            </a:r>
            <a:endParaRPr lang="en-US" sz="2400" b="1" u="none" strike="noStrike" dirty="0">
              <a:solidFill>
                <a:srgbClr val="000000"/>
              </a:solidFill>
              <a:latin typeface="Arial Rounded MT Bold" panose="020F0704030504030204" pitchFamily="34" charset="0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E7697B-6C36-0286-90FD-4948B3DEB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803" y="1640120"/>
            <a:ext cx="3646929" cy="1541991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B17A2B8C-B22F-2D0B-EB98-57E2CC2D80E5}"/>
              </a:ext>
            </a:extLst>
          </p:cNvPr>
          <p:cNvSpPr txBox="1"/>
          <p:nvPr/>
        </p:nvSpPr>
        <p:spPr>
          <a:xfrm>
            <a:off x="7643873" y="2896354"/>
            <a:ext cx="1011936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Chart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52C5D5-871D-15F5-D5E3-453CF733A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731" y="3675890"/>
            <a:ext cx="7316221" cy="275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13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9A49F-F17D-8D9E-813E-A0EF7780E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82880"/>
            <a:ext cx="10122632" cy="457200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Pivot table &amp; charts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878106-E8F9-A9B3-772A-3A7E5039FA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84DE188-980F-5190-0DFF-3705D81262B5}"/>
              </a:ext>
            </a:extLst>
          </p:cNvPr>
          <p:cNvSpPr txBox="1"/>
          <p:nvPr/>
        </p:nvSpPr>
        <p:spPr>
          <a:xfrm>
            <a:off x="155448" y="767189"/>
            <a:ext cx="6858000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Pivot Table </a:t>
            </a:r>
            <a:r>
              <a:rPr lang="en-US" sz="2400" b="1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3</a:t>
            </a: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 – </a:t>
            </a:r>
            <a:r>
              <a:rPr lang="en-US" sz="2400" b="1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Ship Mode</a:t>
            </a: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&amp;  Sum of Profit</a:t>
            </a:r>
            <a:endParaRPr lang="en-US" sz="2400" b="1" u="none" strike="noStrike" dirty="0">
              <a:solidFill>
                <a:srgbClr val="000000"/>
              </a:solidFill>
              <a:latin typeface="Arial Rounded MT Bold" panose="020F0704030504030204" pitchFamily="34" charset="0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EA97F-8505-9BE0-82FB-B433638C3381}"/>
              </a:ext>
            </a:extLst>
          </p:cNvPr>
          <p:cNvSpPr txBox="1"/>
          <p:nvPr/>
        </p:nvSpPr>
        <p:spPr>
          <a:xfrm>
            <a:off x="7643873" y="2896354"/>
            <a:ext cx="1011936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Chart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3B4E18-DC49-298A-7C63-EA61F236C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369" y="1463520"/>
            <a:ext cx="3318158" cy="16590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7360B8-0C6D-A5AA-1A9B-987011BD9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678" y="3739897"/>
            <a:ext cx="7335274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116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DDAD-76AE-3D2E-8FDD-246B7595C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82880"/>
            <a:ext cx="10122632" cy="585216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Pivot table &amp; charts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E41C0-93E9-E572-5C39-182BD531D9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B66258B-571B-4B90-71A7-BEBE532AD7F5}"/>
              </a:ext>
            </a:extLst>
          </p:cNvPr>
          <p:cNvSpPr txBox="1"/>
          <p:nvPr/>
        </p:nvSpPr>
        <p:spPr>
          <a:xfrm>
            <a:off x="155448" y="767189"/>
            <a:ext cx="6858000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Pivot Table </a:t>
            </a:r>
            <a:r>
              <a:rPr lang="en-US" sz="2400" b="1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4</a:t>
            </a: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 – Sub Category </a:t>
            </a:r>
            <a:r>
              <a:rPr lang="en-US" sz="2400" b="1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&amp;  Count of Sales</a:t>
            </a:r>
            <a:endParaRPr lang="en-US" sz="2400" b="1" u="none" strike="noStrike" dirty="0">
              <a:solidFill>
                <a:srgbClr val="000000"/>
              </a:solidFill>
              <a:latin typeface="Arial Rounded MT Bold" panose="020F0704030504030204" pitchFamily="34" charset="0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19B19-6DF4-43BA-DF43-48DCB4D77402}"/>
              </a:ext>
            </a:extLst>
          </p:cNvPr>
          <p:cNvSpPr txBox="1"/>
          <p:nvPr/>
        </p:nvSpPr>
        <p:spPr>
          <a:xfrm>
            <a:off x="7643873" y="1469890"/>
            <a:ext cx="1011936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Chart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97D850-6C8B-D9CE-A246-9080522E2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608085"/>
            <a:ext cx="2333951" cy="43916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9231F9-F365-34CC-E716-C4BF4DCB4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099" y="2479744"/>
            <a:ext cx="7363853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87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1ED2-5549-1EE3-38F3-98005BFF8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82880"/>
            <a:ext cx="10122632" cy="612648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Pivot table &amp; charts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CD650-73C1-AB53-7A9C-9551819E4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05C294-7B90-8036-0EE9-B4CDE3E78471}"/>
              </a:ext>
            </a:extLst>
          </p:cNvPr>
          <p:cNvSpPr txBox="1"/>
          <p:nvPr/>
        </p:nvSpPr>
        <p:spPr>
          <a:xfrm>
            <a:off x="36576" y="767189"/>
            <a:ext cx="5916168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Pivot Table 5 – Years </a:t>
            </a:r>
            <a:r>
              <a:rPr lang="en-US" sz="2400" b="1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&amp;  Count of Orders</a:t>
            </a:r>
            <a:endParaRPr lang="en-US" sz="2400" b="1" u="none" strike="noStrike" dirty="0">
              <a:solidFill>
                <a:srgbClr val="000000"/>
              </a:solidFill>
              <a:latin typeface="Arial Rounded MT Bold" panose="020F0704030504030204" pitchFamily="34" charset="0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6D5B6-6D87-2EAB-CF57-C74B5410265B}"/>
              </a:ext>
            </a:extLst>
          </p:cNvPr>
          <p:cNvSpPr txBox="1"/>
          <p:nvPr/>
        </p:nvSpPr>
        <p:spPr>
          <a:xfrm>
            <a:off x="8007095" y="767188"/>
            <a:ext cx="1011936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Chart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818627-F5A6-6211-DC46-CD38333BA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04" y="1448664"/>
            <a:ext cx="3647708" cy="17585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123032-B956-4278-61EA-7792769E3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784" y="1725631"/>
            <a:ext cx="7297168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536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328A6-018C-9C36-8FE5-1B7F9A13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82880"/>
            <a:ext cx="10122632" cy="493776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Dashboard overview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27802-0AA8-B070-9556-9B9EE757C4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1A279-3BEB-AEB9-D2F3-E3624F4A7619}"/>
              </a:ext>
            </a:extLst>
          </p:cNvPr>
          <p:cNvSpPr txBox="1"/>
          <p:nvPr/>
        </p:nvSpPr>
        <p:spPr>
          <a:xfrm>
            <a:off x="1368496" y="676656"/>
            <a:ext cx="9455008" cy="1450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3354" lvl="1" indent="-342900" algn="l">
              <a:lnSpc>
                <a:spcPts val="2873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Agrandir"/>
                <a:cs typeface="Agrandir"/>
                <a:sym typeface="Agrandir"/>
              </a:rPr>
              <a:t>Created a Superstore Sales Dashboard in Excel to summarize sales performance in a single interactive view.</a:t>
            </a:r>
          </a:p>
          <a:p>
            <a:pPr marL="583354" lvl="1" indent="-342900" algn="l">
              <a:lnSpc>
                <a:spcPts val="2873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  <a:ea typeface="Agrandir"/>
                <a:cs typeface="Agrandir"/>
                <a:sym typeface="Agrandir"/>
              </a:rPr>
              <a:t>Includes KPIs, Pivot Charts, and Slicers to track trends and compare performance across categories, segments, and shipping modes.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DA7EA5-DF9B-9F60-481D-B8B128F58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277" y="2127374"/>
            <a:ext cx="9008862" cy="466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75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47D32-F90A-420C-6467-115CA2C34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04672"/>
            <a:ext cx="6839712" cy="402336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What if analysis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F216E-22D0-1E6F-4A41-A994A5A169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5D89AB-F5F0-5655-ED30-0F6692820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03" y="1975104"/>
            <a:ext cx="2257740" cy="9240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576A34-780F-9678-287B-9E3F9A32F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339" y="2682298"/>
            <a:ext cx="2810267" cy="18957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59265D3-C799-50F5-31D7-325BC2F16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752" y="4612109"/>
            <a:ext cx="3267531" cy="19624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893B197-CAC2-76C9-0A96-6038ED775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903" y="5129274"/>
            <a:ext cx="2476846" cy="924054"/>
          </a:xfrm>
          <a:prstGeom prst="rect">
            <a:avLst/>
          </a:prstGeom>
        </p:spPr>
      </p:pic>
      <p:sp>
        <p:nvSpPr>
          <p:cNvPr id="19" name="TextBox 1">
            <a:extLst>
              <a:ext uri="{FF2B5EF4-FFF2-40B4-BE49-F238E27FC236}">
                <a16:creationId xmlns:a16="http://schemas.microsoft.com/office/drawing/2014/main" id="{44FFCB22-1B48-1975-05C8-C13F1B2D4D34}"/>
              </a:ext>
            </a:extLst>
          </p:cNvPr>
          <p:cNvSpPr txBox="1"/>
          <p:nvPr/>
        </p:nvSpPr>
        <p:spPr>
          <a:xfrm>
            <a:off x="571903" y="3271266"/>
            <a:ext cx="3017520" cy="1485900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b="1" dirty="0">
                <a:latin typeface="Arial Rounded MT Bold" panose="020F0704030504030204" pitchFamily="34" charset="0"/>
              </a:rPr>
              <a:t>Goal Seek:</a:t>
            </a:r>
          </a:p>
          <a:p>
            <a:endParaRPr lang="en-IN" sz="1100" dirty="0">
              <a:latin typeface="Arial Rounded MT Bold" panose="020F0704030504030204" pitchFamily="34" charset="0"/>
            </a:endParaRPr>
          </a:p>
          <a:p>
            <a:r>
              <a:rPr lang="en-IN" sz="1100" b="1" dirty="0">
                <a:latin typeface="Arial Rounded MT Bold" panose="020F0704030504030204" pitchFamily="34" charset="0"/>
              </a:rPr>
              <a:t>I</a:t>
            </a:r>
            <a:r>
              <a:rPr lang="en-IN" sz="1100" b="1" baseline="0" dirty="0">
                <a:latin typeface="Arial Rounded MT Bold" panose="020F0704030504030204" pitchFamily="34" charset="0"/>
              </a:rPr>
              <a:t> am set the  goal seek target  for specific product revenue is  </a:t>
            </a:r>
            <a:r>
              <a:rPr lang="en-IN" sz="1100" b="1" baseline="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90,000</a:t>
            </a:r>
            <a:r>
              <a:rPr lang="en-IN" sz="1100" b="1" baseline="0" dirty="0">
                <a:latin typeface="Arial Rounded MT Bold" panose="020F0704030504030204" pitchFamily="34" charset="0"/>
              </a:rPr>
              <a:t> .</a:t>
            </a:r>
          </a:p>
          <a:p>
            <a:endParaRPr lang="en-IN" sz="1100" b="1" baseline="0" dirty="0">
              <a:latin typeface="Arial Rounded MT Bold" panose="020F070403050403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1" dirty="0">
                <a:solidFill>
                  <a:schemeClr val="dk1"/>
                </a:solidFill>
                <a:effectLst/>
                <a:latin typeface="Arial Rounded MT Bold" panose="020F0704030504030204" pitchFamily="34" charset="0"/>
              </a:rPr>
              <a:t>Using Goal seek, to achieve 90,000 Adjusted Sales</a:t>
            </a:r>
            <a:r>
              <a:rPr lang="en-IN" sz="1100" b="1" baseline="0" dirty="0">
                <a:solidFill>
                  <a:schemeClr val="dk1"/>
                </a:solidFill>
                <a:effectLst/>
                <a:latin typeface="Arial Rounded MT Bold" panose="020F0704030504030204" pitchFamily="34" charset="0"/>
              </a:rPr>
              <a:t> for a specific product</a:t>
            </a:r>
            <a:r>
              <a:rPr lang="en-IN" sz="1100" b="1" dirty="0">
                <a:solidFill>
                  <a:schemeClr val="dk1"/>
                </a:solidFill>
                <a:effectLst/>
                <a:latin typeface="Arial Rounded MT Bold" panose="020F0704030504030204" pitchFamily="34" charset="0"/>
              </a:rPr>
              <a:t>, 687.13 units must be sold.</a:t>
            </a:r>
            <a:endParaRPr lang="en-IN" dirty="0">
              <a:effectLst/>
              <a:latin typeface="Arial Rounded MT Bold" panose="020F0704030504030204" pitchFamily="34" charset="0"/>
            </a:endParaRPr>
          </a:p>
          <a:p>
            <a:endParaRPr lang="en-IN" sz="1100" b="1" dirty="0">
              <a:latin typeface="Arial Rounded MT Bold" panose="020F07040305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6A5B52-15DD-FB64-B16B-0A1DDD15CE11}"/>
              </a:ext>
            </a:extLst>
          </p:cNvPr>
          <p:cNvSpPr txBox="1"/>
          <p:nvPr/>
        </p:nvSpPr>
        <p:spPr>
          <a:xfrm>
            <a:off x="4493757" y="1336178"/>
            <a:ext cx="2193520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Goal Seek</a:t>
            </a:r>
            <a:endParaRPr lang="en-US" sz="2400" b="1" u="none" strike="noStrike" dirty="0">
              <a:solidFill>
                <a:srgbClr val="000000"/>
              </a:solidFill>
              <a:latin typeface="Arial Rounded MT Bold" panose="020F0704030504030204" pitchFamily="34" charset="0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6C4B37CB-ECAA-3A69-0A33-CE1E4F75D835}"/>
              </a:ext>
            </a:extLst>
          </p:cNvPr>
          <p:cNvSpPr/>
          <p:nvPr/>
        </p:nvSpPr>
        <p:spPr>
          <a:xfrm>
            <a:off x="5362472" y="1975104"/>
            <a:ext cx="279376" cy="6731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Placeholder 8" descr="A person holding a phone with graphs and charts&#10;&#10;AI-generated content may be incorrect.">
            <a:extLst>
              <a:ext uri="{FF2B5EF4-FFF2-40B4-BE49-F238E27FC236}">
                <a16:creationId xmlns:a16="http://schemas.microsoft.com/office/drawing/2014/main" id="{C68724FD-D28A-AA19-8A8D-BD1BF1DB6A5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l="27919" r="2791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4012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A person holding a phone with graphs and charts&#10;&#10;AI-generated content may be incorrect.">
            <a:extLst>
              <a:ext uri="{FF2B5EF4-FFF2-40B4-BE49-F238E27FC236}">
                <a16:creationId xmlns:a16="http://schemas.microsoft.com/office/drawing/2014/main" id="{CD41AA8F-C87E-E27C-7606-5267DD5B55D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27919" r="27919"/>
          <a:stretch>
            <a:fillRect/>
          </a:stretch>
        </p:blipFill>
        <p:spPr/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194BC-A7DA-A5AB-0B3D-22E140B9F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B84EDB-E517-7711-DAB0-E2ED7323D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04672"/>
            <a:ext cx="6839712" cy="402336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What if analysis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516694-0237-6BFE-38B5-2DBDB05349DB}"/>
              </a:ext>
            </a:extLst>
          </p:cNvPr>
          <p:cNvSpPr txBox="1"/>
          <p:nvPr/>
        </p:nvSpPr>
        <p:spPr>
          <a:xfrm>
            <a:off x="4493756" y="1336178"/>
            <a:ext cx="2711715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44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Arial Rounded MT Bold" panose="020F0704030504030204" pitchFamily="34" charset="0"/>
                <a:ea typeface="DM Serif Display"/>
                <a:cs typeface="DM Serif Display"/>
                <a:sym typeface="DM Serif Display"/>
              </a:rPr>
              <a:t>Scenario Manager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31AF6-B95E-6FF1-2569-69C3A9710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1674"/>
            <a:ext cx="4266459" cy="1845926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F8383194-2C09-43EF-F937-43CA52E384B5}"/>
              </a:ext>
            </a:extLst>
          </p:cNvPr>
          <p:cNvSpPr/>
          <p:nvPr/>
        </p:nvSpPr>
        <p:spPr>
          <a:xfrm>
            <a:off x="5709925" y="1975103"/>
            <a:ext cx="279376" cy="6731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74B528-FA46-E85C-023D-C04F03A22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756" y="2777398"/>
            <a:ext cx="2810268" cy="20910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4F45A3-7941-8B2B-B64B-F2F846337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3755" y="4997600"/>
            <a:ext cx="2825105" cy="105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84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B811-D433-76AA-ADB6-6EA08863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82880"/>
            <a:ext cx="10122632" cy="493776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grandir"/>
                <a:ea typeface="Agrandir"/>
                <a:cs typeface="Agrandir"/>
                <a:sym typeface="Agrandir"/>
              </a:rPr>
              <a:t>Macros and Automation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Agrandir"/>
                <a:ea typeface="Agrandir"/>
                <a:cs typeface="Agrandir"/>
                <a:sym typeface="Agrandir"/>
              </a:rPr>
            </a:b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BFC46-810E-E026-57AC-5E568B21F9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CE6D2-E889-C056-478F-5510A5B3B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748" y="1362453"/>
            <a:ext cx="9265920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67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5CE2A-FB6A-D217-5B05-452EF6D9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" y="64008"/>
            <a:ext cx="6839712" cy="512064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grandir"/>
                <a:ea typeface="Agrandir"/>
                <a:cs typeface="Agrandir"/>
                <a:sym typeface="Agrandir"/>
              </a:rPr>
              <a:t>Insights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29485-E829-4B4B-6E33-54476B250E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2FD54B2A-B8D6-1510-8B90-E678815F0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27" y="728793"/>
            <a:ext cx="6773645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Consumer segment leads sales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 with nearly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₹9.95 lakh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, making it the strongest contributor among all segments.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Yearly growth is evident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, with orders steadily increasing and peaking 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3312 orders in 2017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Binders and Paper dominate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 in sub-category orders, while Copiers and Machines lag far behind.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Standard Class shipping generates the highest profit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 (₹1.64 lakh), whereas Same Day shipping yields the least.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Furniture has the highest discount rate (~17%)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, indicating that heavy discounts may be driving its sales more than other categories.</a:t>
            </a:r>
          </a:p>
        </p:txBody>
      </p:sp>
      <p:pic>
        <p:nvPicPr>
          <p:cNvPr id="22" name="Picture Placeholder 21" descr="A finger touching a blue globe&#10;&#10;AI-generated content may be incorrect.">
            <a:extLst>
              <a:ext uri="{FF2B5EF4-FFF2-40B4-BE49-F238E27FC236}">
                <a16:creationId xmlns:a16="http://schemas.microsoft.com/office/drawing/2014/main" id="{82E8FDB0-5DB5-FF78-7316-AA002DFD409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13183" r="1318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76469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D7825-2008-3ED3-33DC-279CB933F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83" y="192024"/>
            <a:ext cx="6839712" cy="548640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grandir"/>
                <a:ea typeface="Agrandir"/>
                <a:cs typeface="Agrandir"/>
                <a:sym typeface="Agrandir"/>
              </a:rPr>
              <a:t>Recommendations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Agrandir"/>
                <a:ea typeface="Agrandir"/>
                <a:cs typeface="Agrandir"/>
                <a:sym typeface="Agrandir"/>
              </a:rPr>
            </a:b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7" name="Picture Placeholder 6" descr="A person holding a tablet&#10;&#10;AI-generated content may be incorrect.">
            <a:extLst>
              <a:ext uri="{FF2B5EF4-FFF2-40B4-BE49-F238E27FC236}">
                <a16:creationId xmlns:a16="http://schemas.microsoft.com/office/drawing/2014/main" id="{3F0F6790-DC57-8C61-EA8A-544DB91A5F0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8" r="318"/>
          <a:stretch>
            <a:fillRect/>
          </a:stretch>
        </p:blipFill>
        <p:spPr/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1B111-D858-E108-1689-E95D2012A2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229D856-B25B-7CC4-2E37-02619C7E5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03" y="1228397"/>
            <a:ext cx="723265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Focus on Consumer customers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– They buy the most, so give them offers or loyalty rewards to keep them coming back.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Plan for growing orders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 – Sales are going up each year, so keep enough stock and manage delivery well.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Promote popular items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 – Paper and Binders sell the most; bundle them with low-selling items like Copiers and Machines.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Improve shipping profit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 – Standard Class makes the most profit, so encourage customers to use it. Check costs for Same Day delivery.</a:t>
            </a:r>
          </a:p>
        </p:txBody>
      </p:sp>
    </p:spTree>
    <p:extLst>
      <p:ext uri="{BB962C8B-B14F-4D97-AF65-F5344CB8AC3E}">
        <p14:creationId xmlns:p14="http://schemas.microsoft.com/office/powerpoint/2010/main" val="2859912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E37D-8C5F-AC02-BC43-346A32C0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82880"/>
            <a:ext cx="10122632" cy="393192"/>
          </a:xfrm>
        </p:spPr>
        <p:txBody>
          <a:bodyPr anchor="t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conclusion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C6F03-2B62-44D3-A88F-5312A103C3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E85C0BF-B375-0C16-5F26-384FEDB55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722" y="1166842"/>
            <a:ext cx="952655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This project successfully </a:t>
            </a: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</a:rPr>
              <a:t>complet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ed with the use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Advanced Excel techniques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 to analyze and visualize Superstore Sales data.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Arial Rounded MT Bold" panose="020F07040305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data cleaning, calculated fields, and pivot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, meaningful insights were extracted on sales, discounts, profit, and customer behavior.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interactive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 provides a one-stop view of KPIs, making it easier to track trends and performance.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What-If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 using Goal Seek and Scenario Manager showed how Excel can support decision-making by predicting outcomes.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Automation with Macros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 reduced manual effort and increased efficiency.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Arial Rounded MT Bold" panose="020F07040305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Arial Rounded MT Bold" panose="020F0704030504030204" pitchFamily="34" charset="0"/>
              </a:rPr>
              <a:t>Overall, the project highlights how Excel can transform raw data into actionable insights that drive better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984905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445AF661-F07E-E090-6BA3-187B1FABAB13}"/>
              </a:ext>
            </a:extLst>
          </p:cNvPr>
          <p:cNvSpPr/>
          <p:nvPr/>
        </p:nvSpPr>
        <p:spPr>
          <a:xfrm>
            <a:off x="2692908" y="0"/>
            <a:ext cx="6806184" cy="68580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A34ABB39-72D2-0469-51B6-B32CE50A73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30715" y="1629000"/>
            <a:ext cx="373057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78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FDF184D-5F49-9A8D-E883-55C70E0EF7A8}"/>
              </a:ext>
            </a:extLst>
          </p:cNvPr>
          <p:cNvSpPr/>
          <p:nvPr/>
        </p:nvSpPr>
        <p:spPr>
          <a:xfrm>
            <a:off x="2296369" y="558538"/>
            <a:ext cx="5904950" cy="5740924"/>
          </a:xfrm>
          <a:prstGeom prst="flowChartConnector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78348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051434_win32_KB_V3.potx" id="{43D84336-549C-4EAD-AE8D-BE1D65DE3314}" vid="{2C1BB0A5-2565-4EB8-A5F5-FF12201C54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D4D42E-C7BD-4080-9A83-56BA58F91A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D1C4F3-182B-4FFD-86F3-85933C0520B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A0E3FE2-6B9B-4C9A-84D9-AD118750DE6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modernist presentation</Template>
  <TotalTime>383</TotalTime>
  <Words>689</Words>
  <Application>Microsoft Office PowerPoint</Application>
  <PresentationFormat>Widescreen</PresentationFormat>
  <Paragraphs>106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Agrandir</vt:lpstr>
      <vt:lpstr>Arial</vt:lpstr>
      <vt:lpstr>Arial Black</vt:lpstr>
      <vt:lpstr>Arial Rounded MT Bold</vt:lpstr>
      <vt:lpstr>Avenir Next LT Pro</vt:lpstr>
      <vt:lpstr>Avenir Next LT Pro Light</vt:lpstr>
      <vt:lpstr>Calibri</vt:lpstr>
      <vt:lpstr>Wingdings</vt:lpstr>
      <vt:lpstr>Custom</vt:lpstr>
      <vt:lpstr>Advanced excel project</vt:lpstr>
      <vt:lpstr>Excel reinforcement project</vt:lpstr>
      <vt:lpstr>Project overview</vt:lpstr>
      <vt:lpstr>Data Description and Preparation</vt:lpstr>
      <vt:lpstr>PowerPoint Presentation</vt:lpstr>
      <vt:lpstr>Key Metrics Calculation and Data Analysis </vt:lpstr>
      <vt:lpstr>PIVOT TABLE &amp; CHARTS</vt:lpstr>
      <vt:lpstr>Pivot table &amp; charts</vt:lpstr>
      <vt:lpstr>Pivot table &amp; charts</vt:lpstr>
      <vt:lpstr>Pivot table &amp; charts</vt:lpstr>
      <vt:lpstr>Pivot table &amp; charts</vt:lpstr>
      <vt:lpstr>Dashboard overview</vt:lpstr>
      <vt:lpstr>What if analysis</vt:lpstr>
      <vt:lpstr>What if analysis</vt:lpstr>
      <vt:lpstr>Macros and Automation </vt:lpstr>
      <vt:lpstr>Insights</vt:lpstr>
      <vt:lpstr>Recommendations 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Janarthanan Marimuthu</dc:creator>
  <cp:lastModifiedBy>Janarthanan Marimuthu</cp:lastModifiedBy>
  <cp:revision>18</cp:revision>
  <dcterms:created xsi:type="dcterms:W3CDTF">2025-09-06T13:16:15Z</dcterms:created>
  <dcterms:modified xsi:type="dcterms:W3CDTF">2025-09-09T08:22:56Z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